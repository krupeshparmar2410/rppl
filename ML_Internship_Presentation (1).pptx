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CC-4F76-98F6-6E352D33ECCF}"/>
              </c:ext>
            </c:extLst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CC-4F76-98F6-6E352D33ECCF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CC-4F76-98F6-6E352D33EC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4000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CC-4F76-98F6-6E352D33EC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C0-4647-B092-1AF19780E5F4}"/>
              </c:ext>
            </c:extLst>
          </c:dPt>
          <c:dPt>
            <c:idx val="1"/>
            <c:invertIfNegative val="0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C0-4647-B092-1AF19780E5F4}"/>
              </c:ext>
            </c:extLst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C0-4647-B092-1AF19780E5F4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C0-4647-B092-1AF19780E5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82.4</c:v>
                </c:pt>
                <c:pt idx="1">
                  <c:v>87.6</c:v>
                </c:pt>
                <c:pt idx="2">
                  <c:v>94.2</c:v>
                </c:pt>
                <c:pt idx="3">
                  <c:v>92.8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C0-4647-B092-1AF19780E5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2B-49EF-93CA-E8FAA74F51D0}"/>
              </c:ext>
            </c:extLst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2B-49EF-93CA-E8FAA74F51D0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2B-49EF-93CA-E8FAA74F51D0}"/>
              </c:ext>
            </c:extLst>
          </c:dPt>
          <c:dPt>
            <c:idx val="3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22B-49EF-93CA-E8FAA74F51D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2B-49EF-93CA-E8FAA74F51D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2B-49EF-93CA-E8FAA74F51D0}"/>
                </c:ext>
              </c:extLst>
            </c:dLbl>
            <c:dLbl>
              <c:idx val="2"/>
              <c:layout>
                <c:manualLayout>
                  <c:x val="3.767056530214425E-2"/>
                  <c:y val="6.2295751633986929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2B-49EF-93CA-E8FAA74F51D0}"/>
                </c:ext>
              </c:extLst>
            </c:dLbl>
            <c:dLbl>
              <c:idx val="3"/>
              <c:layout>
                <c:manualLayout>
                  <c:x val="1.2955960000613958E-2"/>
                  <c:y val="8.9869281045751634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2B-49EF-93CA-E8FAA74F51D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True Positive</c:v>
                </c:pt>
                <c:pt idx="1">
                  <c:v>True Negative</c:v>
                </c:pt>
                <c:pt idx="2">
                  <c:v>False Pos.</c:v>
                </c:pt>
                <c:pt idx="3">
                  <c:v>False Neg.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48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22B-49EF-93CA-E8FAA74F5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61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audio" Target="../media/audio1.wav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12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audio" Target="../media/audio1.wav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audio1.wav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audio" Target="../media/audio1.wav"/><Relationship Id="rId4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audio1.wav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audio" Target="../media/audio1.wav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63600" y="-9144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38BDF8">
              <a:alpha val="25000"/>
            </a:srgbClr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914400"/>
            <a:ext cx="2286000" cy="2286000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11887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8BDF8"/>
                </a:solidFill>
              </a:rPr>
              <a:t>MACHINE LEARNING INTERNSHIP PROJECT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78308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461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Prediction &amp;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914400" y="3977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4800" dirty="0"/>
          </a:p>
        </p:txBody>
      </p:sp>
      <p:sp>
        <p:nvSpPr>
          <p:cNvPr id="11" name="Shape 8"/>
          <p:cNvSpPr/>
          <p:nvPr/>
        </p:nvSpPr>
        <p:spPr>
          <a:xfrm>
            <a:off x="4114800" y="4846320"/>
            <a:ext cx="39319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Developed by: </a:t>
            </a:r>
            <a:r>
              <a:rPr lang="en-US" sz="1300" b="1" dirty="0">
                <a:solidFill>
                  <a:srgbClr val="FFFFFF"/>
                </a:solidFill>
              </a:rPr>
              <a:t>krupesh Parmar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28800" y="53949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College: </a:t>
            </a:r>
            <a:r>
              <a:rPr lang="en-US" sz="1200" dirty="0">
                <a:solidFill>
                  <a:srgbClr val="E2E8F0"/>
                </a:solidFill>
              </a:rPr>
              <a:t>Gujarat University, Ahmedabad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00" y="5715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4748B"/>
                </a:solidFill>
              </a:rPr>
              <a:t>Msc</a:t>
            </a:r>
            <a:r>
              <a:rPr lang="en-US" sz="1100" dirty="0">
                <a:solidFill>
                  <a:srgbClr val="64748B"/>
                </a:solidFill>
              </a:rPr>
              <a:t> ( ca &amp; it) Computer Science  •  2023–28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Powered by Python · Flask · Scikit-learn · Render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4840" y="3758184"/>
            <a:ext cx="2743200" cy="27432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97280" y="2788920"/>
            <a:ext cx="16459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</a:rPr>
              <a:t>Internship Project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457200"/>
            <a:ext cx="7589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457200"/>
            <a:ext cx="54864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594359"/>
            <a:ext cx="7132320" cy="57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34840" y="96012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ML application that predicts outcomes based on user-supplied inputs using trained Scikit-learn models, served via a Flask REST API.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468880"/>
            <a:ext cx="7589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06240" y="2468880"/>
            <a:ext cx="54864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2606040"/>
            <a:ext cx="7132320" cy="566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434840" y="297180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smart, data-driven decision making in industries like healthcare, manufacturing, and logistics through real-time predictive analytics.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06240" y="4480560"/>
            <a:ext cx="7589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4480560"/>
            <a:ext cx="54864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4617720"/>
            <a:ext cx="7132320" cy="532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434840" y="498348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train, deploy, and monitor a machine learning model with an intuitive web interface — end-to-end, from data to production.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Methods Fail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30175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of businesses rely on gut-feel decisions without data-driven insights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more errors occur with manual analysis vs. automated ML predictions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412480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average delay in decision-making using traditional reporting tools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394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7115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0160" y="3337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Manual &amp; Error-Prone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368503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Traditional methods involve repetitive human analysis, leading to inconsistencies and high error rates.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26480" y="3246120"/>
            <a:ext cx="5394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406140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33375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Predictive Power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949440" y="368503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Reactive reporting tools only describe the past; they can't forecast future trends or anomalies.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57200" y="4709160"/>
            <a:ext cx="5394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2920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80160" y="4800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Slow &amp; Costly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280160" y="51480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Hiring domain experts for every analysis decision is expensive and creates bottlenecks at scale.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126480" y="4709160"/>
            <a:ext cx="53949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502920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49440" y="4800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Not Scalable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6949440" y="51480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Rule-based systems break under growing data volumes and cannot adapt to new patterns automatically.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5F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PROPOSED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ML-Powered Automation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6304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User provides input parameters via clean web 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2450592"/>
            <a:ext cx="2743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258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6304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Data cleaned, normalized using Pandas &amp; NumPy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2450592"/>
            <a:ext cx="2743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3258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146304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ML Prediction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Trained Scikit-learn model generates predictions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0" y="2450592"/>
            <a:ext cx="2743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32588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49840" y="146304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Output Display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Results visualized clearly on the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Key Benefits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1828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48056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4008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 Results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834640" y="4389120"/>
            <a:ext cx="1828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480560"/>
            <a:ext cx="640080" cy="64008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83464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Accuracy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029200" y="4389120"/>
            <a:ext cx="1828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4480560"/>
            <a:ext cx="640080" cy="6400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02920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Easy to Use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223760" y="4389120"/>
            <a:ext cx="1828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480560"/>
            <a:ext cx="640080" cy="6400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22376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 Deployed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9418320" y="4389120"/>
            <a:ext cx="1828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480560"/>
            <a:ext cx="640080" cy="6400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418320" y="5166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Reliable &amp; Tested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TECHNOLOGIES USED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Tech Stack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937760" y="1234440"/>
            <a:ext cx="2286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6304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783080"/>
            <a:ext cx="822960" cy="82296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8308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96596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Core Language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146304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783080"/>
            <a:ext cx="822960" cy="8229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1924905"/>
            <a:ext cx="685800" cy="5374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Flask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2356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Web Framework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146304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783080"/>
            <a:ext cx="822960" cy="822960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783080"/>
            <a:ext cx="822960" cy="8229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28116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ML Library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315468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" y="3474720"/>
            <a:ext cx="822960" cy="82296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474720"/>
            <a:ext cx="822960" cy="8229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6596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96596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Data Analysis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480560" y="315468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63440" y="3474720"/>
            <a:ext cx="822960" cy="822960"/>
          </a:xfrm>
          <a:prstGeom prst="ellipse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474720"/>
            <a:ext cx="822960" cy="8229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2356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62356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Numerics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138160" y="315468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3474720"/>
            <a:ext cx="822960" cy="82296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474720"/>
            <a:ext cx="822960" cy="8229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81160" y="3383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HTML/CSS/JS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28116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</a:rPr>
              <a:t>Frontend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822960" y="484632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05840" y="5166360"/>
            <a:ext cx="822960" cy="822960"/>
          </a:xfrm>
          <a:prstGeom prst="ellipse">
            <a:avLst/>
          </a:prstGeom>
          <a:solidFill>
            <a:srgbClr val="181717"/>
          </a:solidFill>
          <a:ln w="12700">
            <a:solidFill>
              <a:srgbClr val="181717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166360"/>
            <a:ext cx="822960" cy="8229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965960" y="5074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1965960" y="5532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Version Control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4480560" y="484632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663440" y="5166360"/>
            <a:ext cx="822960" cy="822960"/>
          </a:xfrm>
          <a:prstGeom prst="ellipse">
            <a:avLst/>
          </a:prstGeom>
          <a:solidFill>
            <a:srgbClr val="46E3B7"/>
          </a:solidFill>
          <a:ln w="12700">
            <a:solidFill>
              <a:srgbClr val="46E3B7"/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3440" y="5166360"/>
            <a:ext cx="822960" cy="8229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623560" y="5074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Render</a:t>
            </a:r>
            <a:endParaRPr lang="en-US" sz="1400" dirty="0"/>
          </a:p>
        </p:txBody>
      </p:sp>
      <p:sp>
        <p:nvSpPr>
          <p:cNvPr id="46" name="Text 36"/>
          <p:cNvSpPr/>
          <p:nvPr/>
        </p:nvSpPr>
        <p:spPr>
          <a:xfrm>
            <a:off x="5623560" y="5532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8138160" y="4846320"/>
            <a:ext cx="33832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8321040" y="516636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5166360"/>
            <a:ext cx="822960" cy="82296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9281160" y="5074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ML Pipeline</a:t>
            </a:r>
            <a:endParaRPr lang="en-US" sz="1400" dirty="0"/>
          </a:p>
        </p:txBody>
      </p:sp>
      <p:sp>
        <p:nvSpPr>
          <p:cNvPr id="51" name="Text 40"/>
          <p:cNvSpPr/>
          <p:nvPr/>
        </p:nvSpPr>
        <p:spPr>
          <a:xfrm>
            <a:off x="9281160" y="5532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End-to-End</a:t>
            </a:r>
            <a:endParaRPr lang="en-US" sz="1200" dirty="0"/>
          </a:p>
        </p:txBody>
      </p:sp>
      <p:sp>
        <p:nvSpPr>
          <p:cNvPr id="52" name="Text 41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5F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3" name="arrow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DATASET INFORMATION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The Foundation of Intelligence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Clean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0" y="128016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354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Train/Test Split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Feature Overview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265840"/>
              </p:ext>
            </p:extLst>
          </p:nvPr>
        </p:nvGraphicFramePr>
        <p:xfrm>
          <a:off x="457200" y="2834639"/>
          <a:ext cx="6858000" cy="34380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Features (X)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Numerical/Categorical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independent variables for prediction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(y)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Binary/Continuous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to predict (label column</a:t>
                      </a: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6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terms, ratios, aggregates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Imputed with mean/mode; rows &lt; 1% dropped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5895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Distribution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3081834977"/>
              </p:ext>
            </p:extLst>
          </p:nvPr>
        </p:nvGraphicFramePr>
        <p:xfrm>
          <a:off x="7498080" y="2834639"/>
          <a:ext cx="4297680" cy="3438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MACHINE LEARNING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Training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54880" y="1234440"/>
            <a:ext cx="26517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071116"/>
            <a:ext cx="50292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Algorithm Used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68985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029968"/>
            <a:ext cx="4297680" cy="678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Random Forest Classifier — Primary Model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768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286000"/>
            <a:ext cx="429768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Logistic Regression — Baseline Model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" y="267947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724912"/>
            <a:ext cx="4297680" cy="987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Gradient Boosting — Ensemble Model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" y="309981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072384"/>
            <a:ext cx="4297680" cy="1063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Cross-validation: 5-Fold Stratified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48440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419856"/>
            <a:ext cx="429768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</a:rPr>
              <a:t>Hyperparameter tuning: GridSearchCV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5809862" y="2051055"/>
            <a:ext cx="59436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2"/>
          <p:cNvSpPr/>
          <p:nvPr/>
        </p:nvSpPr>
        <p:spPr>
          <a:xfrm>
            <a:off x="5943600" y="1600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Training Pipeline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943600" y="2252597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943599" y="2011680"/>
            <a:ext cx="286761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309360" y="1965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Data Preprocessing &amp; Feature Engineering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943600" y="262003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943599" y="2359151"/>
            <a:ext cx="286761" cy="786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309360" y="2377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Train/Test Split (80/20 Stratified)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928360" y="306053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943599" y="2706624"/>
            <a:ext cx="286761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309360" y="2724912"/>
            <a:ext cx="5120640" cy="924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Model Fitting with Scikit-learn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46555" y="345671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943600" y="3054096"/>
            <a:ext cx="274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309360" y="3072384"/>
            <a:ext cx="5120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Cross-Validation &amp; Performance Evaluation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949510" y="384276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26"/>
          <p:cNvSpPr/>
          <p:nvPr/>
        </p:nvSpPr>
        <p:spPr>
          <a:xfrm>
            <a:off x="5956041" y="3561588"/>
            <a:ext cx="2743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309360" y="3419855"/>
            <a:ext cx="5120640" cy="1142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Hyperparameter Optimization &amp; Export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57200" y="5047488"/>
            <a:ext cx="26517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29"/>
          <p:cNvSpPr/>
          <p:nvPr/>
        </p:nvSpPr>
        <p:spPr>
          <a:xfrm>
            <a:off x="457200" y="4114800"/>
            <a:ext cx="2651760" cy="2621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800" dirty="0"/>
          </a:p>
        </p:txBody>
      </p:sp>
      <p:sp>
        <p:nvSpPr>
          <p:cNvPr id="37" name="Text 30"/>
          <p:cNvSpPr/>
          <p:nvPr/>
        </p:nvSpPr>
        <p:spPr>
          <a:xfrm>
            <a:off x="457200" y="4681728"/>
            <a:ext cx="2651760" cy="2418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3383280" y="5028360"/>
            <a:ext cx="26517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383280" y="4114800"/>
            <a:ext cx="2651760" cy="2621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2800" dirty="0"/>
          </a:p>
        </p:txBody>
      </p:sp>
      <p:sp>
        <p:nvSpPr>
          <p:cNvPr id="40" name="Text 33"/>
          <p:cNvSpPr/>
          <p:nvPr/>
        </p:nvSpPr>
        <p:spPr>
          <a:xfrm>
            <a:off x="3383280" y="4681728"/>
            <a:ext cx="2651760" cy="2418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217920" y="5027054"/>
            <a:ext cx="26517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309360" y="4114800"/>
            <a:ext cx="2651760" cy="2621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2800" dirty="0"/>
          </a:p>
        </p:txBody>
      </p:sp>
      <p:sp>
        <p:nvSpPr>
          <p:cNvPr id="43" name="Text 36"/>
          <p:cNvSpPr/>
          <p:nvPr/>
        </p:nvSpPr>
        <p:spPr>
          <a:xfrm>
            <a:off x="6309360" y="4681728"/>
            <a:ext cx="2651760" cy="232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9144000" y="5028360"/>
            <a:ext cx="265176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9235440" y="4114800"/>
            <a:ext cx="2651760" cy="2621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2800" dirty="0"/>
          </a:p>
        </p:txBody>
      </p:sp>
      <p:sp>
        <p:nvSpPr>
          <p:cNvPr id="46" name="Text 39"/>
          <p:cNvSpPr/>
          <p:nvPr/>
        </p:nvSpPr>
        <p:spPr>
          <a:xfrm>
            <a:off x="9235440" y="4681728"/>
            <a:ext cx="2651760" cy="232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F1 Score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5F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Application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011680" cy="7315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0200"/>
            <a:ext cx="914400" cy="914400"/>
          </a:xfrm>
          <a:prstGeom prst="ellipse">
            <a:avLst/>
          </a:prstGeom>
          <a:solidFill>
            <a:srgbClr val="E34F26">
              <a:alpha val="15000"/>
            </a:srgbClr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550" y="1796796"/>
            <a:ext cx="752980" cy="5989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HTML / CSS / JS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68880" y="2468880"/>
            <a:ext cx="320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2331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88920" y="14173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88920" y="1417320"/>
            <a:ext cx="201168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600200"/>
            <a:ext cx="914400" cy="914400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737360"/>
            <a:ext cx="621419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8892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Flask API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78892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Python Backend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00600" y="2468880"/>
            <a:ext cx="320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00600" y="2331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120640" y="14173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20640" y="141732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69280" y="1600200"/>
            <a:ext cx="914400" cy="914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271" y="1659636"/>
            <a:ext cx="845353" cy="7955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2064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ML Model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1206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Scikit-learn Pipeline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132320" y="2468880"/>
            <a:ext cx="320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132320" y="2331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452360" y="14173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52360" y="1417320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01000" y="1600200"/>
            <a:ext cx="914400" cy="914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5949" y="1737360"/>
            <a:ext cx="564502" cy="6583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236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Prediction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4523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Output Generation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464040" y="2468880"/>
            <a:ext cx="3200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464040" y="23317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9784080" y="141732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784080" y="141732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0332720" y="1600200"/>
            <a:ext cx="914400" cy="9144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1624" y="1636776"/>
            <a:ext cx="754536" cy="8412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8408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Render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97840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Cloud Deployment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solidFill>
            <a:srgbClr val="E34F26">
              <a:alpha val="20000"/>
            </a:srgbClr>
          </a:solidFill>
          <a:ln w="6350">
            <a:solidFill>
              <a:srgbClr val="E34F26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2788920" y="3749040"/>
            <a:ext cx="2011680" cy="320040"/>
          </a:xfrm>
          <a:prstGeom prst="rect">
            <a:avLst/>
          </a:prstGeom>
          <a:solidFill>
            <a:srgbClr val="000000">
              <a:alpha val="20000"/>
            </a:srgbClr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278892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Application Layer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5120640" y="3749040"/>
            <a:ext cx="201168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1206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Intelligence Layer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7452360" y="3749040"/>
            <a:ext cx="2011680" cy="32004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45236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Output Layer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784080" y="3749040"/>
            <a:ext cx="201168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978408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Deployment Layer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457200" y="4251960"/>
            <a:ext cx="1124712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47"/>
          <p:cNvSpPr/>
          <p:nvPr/>
        </p:nvSpPr>
        <p:spPr>
          <a:xfrm>
            <a:off x="731520" y="4389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How It Works:</a:t>
            </a:r>
            <a:endParaRPr lang="en-US" sz="2000" dirty="0"/>
          </a:p>
        </p:txBody>
      </p:sp>
      <p:sp>
        <p:nvSpPr>
          <p:cNvPr id="55" name="Text 48"/>
          <p:cNvSpPr/>
          <p:nvPr/>
        </p:nvSpPr>
        <p:spPr>
          <a:xfrm>
            <a:off x="731520" y="475488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The user submits input data through the HTML/CSS/JS frontend. A POST request is sent to the Flask API backend. The backend preprocesses the data and feeds it into the trained Scikit-learn model. The model generates a prediction which is returned as JSON. The frontend displays the result in real time. The entire app is deployed on Render cloud platform.</a:t>
            </a:r>
            <a:endParaRPr lang="en-US" sz="1400" dirty="0"/>
          </a:p>
        </p:txBody>
      </p:sp>
      <p:sp>
        <p:nvSpPr>
          <p:cNvPr id="56" name="Text 49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9" name="arrow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38BDF8">
              <a:alpha val="25000"/>
            </a:srgbClr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WEBSITE 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 &amp;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234440"/>
            <a:ext cx="30175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91032"/>
            <a:ext cx="7132320" cy="4853598"/>
          </a:xfrm>
          <a:prstGeom prst="rect">
            <a:avLst/>
          </a:prstGeom>
          <a:solidFill>
            <a:srgbClr val="1E293B"/>
          </a:solidFill>
          <a:ln w="190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1323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5448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554480"/>
            <a:ext cx="164592" cy="16459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1554480"/>
            <a:ext cx="164592" cy="164592"/>
          </a:xfrm>
          <a:prstGeom prst="ellipse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463040"/>
            <a:ext cx="4114800" cy="292608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45389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</a:rPr>
              <a:t>https://rppl-cu13.onrender.com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71323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74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Smart Prediction System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2560320"/>
            <a:ext cx="329184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06040"/>
            <a:ext cx="3108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Feature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3464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Enter value...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2560320"/>
            <a:ext cx="329184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297680" y="2606040"/>
            <a:ext cx="3108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Feature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8346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Enter value...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329184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83280"/>
            <a:ext cx="3108960" cy="897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Feature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611880"/>
            <a:ext cx="3108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Enter value...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06240" y="3611880"/>
            <a:ext cx="3291840" cy="70408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3383280"/>
            <a:ext cx="31089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Feature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3611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Enter value...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4544568"/>
            <a:ext cx="246888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4206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PREDICT NOW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29784"/>
            <a:ext cx="6949440" cy="950976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093208"/>
            <a:ext cx="6949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✓  Prediction Result: Positive (Confidence: 94.2%)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55280" y="1417320"/>
            <a:ext cx="3794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45920"/>
            <a:ext cx="548640" cy="5486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732520" y="1508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Responsive Design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73252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Works on all screen sizes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955280" y="2560320"/>
            <a:ext cx="3794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788920"/>
            <a:ext cx="548640" cy="5486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8732520" y="2651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Intuitive UI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873252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Clean, user-friendly forms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955280" y="3703320"/>
            <a:ext cx="3794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931920"/>
            <a:ext cx="548640" cy="54864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732520" y="3794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 Response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73252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&lt; 1s prediction time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7955280" y="4846320"/>
            <a:ext cx="37947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5074920"/>
            <a:ext cx="548640" cy="54864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8732520" y="4937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Secure API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8732520" y="5303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Input validation &amp; error handling</a:t>
            </a:r>
            <a:endParaRPr lang="en-US" sz="1600" dirty="0"/>
          </a:p>
        </p:txBody>
      </p:sp>
      <p:sp>
        <p:nvSpPr>
          <p:cNvPr id="47" name="Text 41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5F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PREDICTION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5661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463040"/>
            <a:ext cx="1097280" cy="109728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652" y="1537195"/>
            <a:ext cx="951256" cy="1014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4630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User Input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32918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User fills form fields on the web interface with relevant feature values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12801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280160"/>
            <a:ext cx="35661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1463040"/>
            <a:ext cx="1097280" cy="109728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085" y="1572768"/>
            <a:ext cx="950789" cy="9052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14630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480560" y="2679192"/>
            <a:ext cx="329184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Flask backend validates data types, ranges, and missing fields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29600" y="128016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0" y="1280160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464040" y="1463040"/>
            <a:ext cx="1097280" cy="10972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877" y="1591056"/>
            <a:ext cx="897606" cy="8343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0" y="14630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22960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366760" y="2679192"/>
            <a:ext cx="329184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Data scaled and encoded to match the training pipeline format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57200" y="374904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57200" y="3749040"/>
            <a:ext cx="35661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691640" y="3931920"/>
            <a:ext cx="1097280" cy="10972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8496" y="3941064"/>
            <a:ext cx="1023568" cy="10195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57200" y="3931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ML Inference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594360" y="5271516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Trained model runs forward pass and computes class probabilities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343400" y="374904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43400" y="3749040"/>
            <a:ext cx="35661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577840" y="3931920"/>
            <a:ext cx="1097280" cy="10972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4331" y="4119372"/>
            <a:ext cx="804298" cy="7818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343400" y="3931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05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3434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Result Display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4480560" y="5148072"/>
            <a:ext cx="329184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Prediction and confidence score rendered back to user interface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8229600" y="3749040"/>
            <a:ext cx="35661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229600" y="3749040"/>
            <a:ext cx="356616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464040" y="3931920"/>
            <a:ext cx="1097280" cy="1097280"/>
          </a:xfrm>
          <a:prstGeom prst="ellipse">
            <a:avLst/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3877" y="4053078"/>
            <a:ext cx="897605" cy="79552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29600" y="3931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3E3E"/>
                </a:solidFill>
              </a:rPr>
              <a:t>06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8229600" y="5074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Logging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8366760" y="5148072"/>
            <a:ext cx="329184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Request metadata and prediction stored for monitoring &amp; analysis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274320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RESULTS &amp; ACCURACY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1234440"/>
            <a:ext cx="30175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5440" y="1417320"/>
            <a:ext cx="265176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1508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23544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F1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Comparison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3383280"/>
          <a:ext cx="56692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7"/>
          <p:cNvSpPr/>
          <p:nvPr/>
        </p:nvSpPr>
        <p:spPr>
          <a:xfrm>
            <a:off x="6492240" y="2971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Prediction Breakdown</a:t>
            </a:r>
            <a:endParaRPr lang="en-US" sz="1400" dirty="0"/>
          </a:p>
        </p:txBody>
      </p:sp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3670321414"/>
              </p:ext>
            </p:extLst>
          </p:nvPr>
        </p:nvGraphicFramePr>
        <p:xfrm>
          <a:off x="6492240" y="338328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 18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5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CHALLENGES &amp; 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&amp; How We Solved Them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Quality Issues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38154"/>
            <a:ext cx="731520" cy="35661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799"/>
            <a:ext cx="731520" cy="576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Raw dataset had missing values, outliers, and inconsistent formats making model training unreliable.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5407" y="2926080"/>
            <a:ext cx="731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502920" y="2651759"/>
            <a:ext cx="731520" cy="900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Applied median imputation, IQR-based outlier clipping, and column normalization using Scikit-learn pipelines.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280160"/>
            <a:ext cx="5486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173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Model Overfitting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520" y="1938154"/>
            <a:ext cx="731520" cy="35661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69480" y="1828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Initial Random Forest model achieved 99% training accuracy but only 78% on validation — clear overfitting.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926080"/>
            <a:ext cx="731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651760"/>
            <a:ext cx="731520" cy="900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480" y="2651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Reduced max_depth, increased min_samples_leaf, applied 5-fold cross-validation and regularization.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886200"/>
            <a:ext cx="54864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23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Deployment Issues on Render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4507992"/>
            <a:ext cx="731520" cy="390579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34839"/>
            <a:ext cx="731520" cy="556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44348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Cold start delays (30-60s) and memory limits caused the app to crash under simultaneous requests.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5440680"/>
            <a:ext cx="731520" cy="418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219544"/>
            <a:ext cx="731520" cy="906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25880" y="52578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Added a health-check endpoint, reduced model size via joblib compression, implemented request queuing.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38862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3886200"/>
            <a:ext cx="54864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023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Flask API Performance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6520" y="4507992"/>
            <a:ext cx="731520" cy="39057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434839"/>
            <a:ext cx="731520" cy="556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69480" y="44348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Synchronous Flask blocked multiple concurrent prediction requests causing timeout errors.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46520" y="5440680"/>
            <a:ext cx="731520" cy="418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5127170"/>
            <a:ext cx="731520" cy="9993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52578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Added threading=True, gunicorn workers on Render, and caching for repeated identical inputs.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06571" y="-123444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8BDF8">
              <a:alpha val="25000"/>
            </a:srgbClr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FUTURE IMPROVEMENTS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0" y="991098"/>
            <a:ext cx="210312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5661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45720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Deep Learning Integration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4360" y="2080727"/>
            <a:ext cx="3337560" cy="1714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Replace classical ML with neural networks (PyTorch/TensorFlow) for higher accuracy on complex patterns.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35661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417320"/>
            <a:ext cx="45720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69164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Cloud-Native Deployment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480560" y="25146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Migrate to AWS/GCP with auto-scaling, load balancing, and containerization using Docker &amp; Kubernetes.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29600" y="1417320"/>
            <a:ext cx="35661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1417320"/>
            <a:ext cx="45720" cy="2194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69164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Real-Time Monitoring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366760" y="25146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Stream live data via WebSockets; add Prometheus + Grafana dashboards for performance monitoring.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57200" y="3886200"/>
            <a:ext cx="35661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886200"/>
            <a:ext cx="45720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731520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Mobile App Integration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94360" y="49834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Build React Native mobile app to allow predictions from iOS/Android devices on the go.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343400" y="3886200"/>
            <a:ext cx="35661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343400" y="3886200"/>
            <a:ext cx="4572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160520"/>
            <a:ext cx="731520" cy="7315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9496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Advanced Analytics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480560" y="49834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Integrate SHAP explainability, feature drift detection, and A/B model testing pipelines.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229600" y="3886200"/>
            <a:ext cx="356616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29600" y="3886200"/>
            <a:ext cx="45720" cy="21945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160520"/>
            <a:ext cx="731520" cy="7315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8116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Security Hardening</a:t>
            </a: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8366760" y="498348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Add OAuth2 authentication, rate limiting, encrypted model artifacts, and audit logs.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11430000" y="182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3A5F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 w="635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38BDF8">
              <a:alpha val="25000"/>
            </a:srgbClr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9144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CONCLUSION &amp; THANK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✓  Built a complete end-to-end ML web application from data to 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✓  Achieved 94.2% prediction accuracy with Random Forest classifier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002536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✓  Deployed live on Render cloud — accessible globally via browser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386584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✓  Gained hands-on experience in Python, Flask, Scikit-learn, HTML/CSS/JS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77063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✓  Implemented real-world ML pipeline: preprocessing, training, evaluation &amp; serving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3227832"/>
            <a:ext cx="7589520" cy="1412748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246120"/>
            <a:ext cx="1371600" cy="1371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286000" y="46177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2286000" y="52578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</a:rPr>
              <a:t>for your time and attention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</a:rPr>
              <a:t>🌐  https://rppl-cu13.onrender.com   </a:t>
            </a:r>
            <a:r>
              <a:rPr lang="en-US" sz="1100" dirty="0">
                <a:solidFill>
                  <a:srgbClr val="64748B"/>
                </a:solidFill>
              </a:rPr>
              <a:t>  |  </a:t>
            </a:r>
            <a:r>
              <a:rPr lang="en-US" sz="1100" dirty="0">
                <a:solidFill>
                  <a:srgbClr val="E2E8F0"/>
                </a:solidFill>
              </a:rPr>
              <a:t>  📧  krupeshparmar231@gmail.com   </a:t>
            </a:r>
            <a:r>
              <a:rPr lang="en-US" sz="1100" dirty="0">
                <a:solidFill>
                  <a:srgbClr val="64748B"/>
                </a:solidFill>
              </a:rPr>
              <a:t>  |  </a:t>
            </a:r>
            <a:r>
              <a:rPr lang="en-US" sz="1100" dirty="0">
                <a:solidFill>
                  <a:srgbClr val="E2E8F0"/>
                </a:solidFill>
              </a:rPr>
              <a:t>  🎓 Gujarat University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1170</Words>
  <Application>Microsoft Office PowerPoint</Application>
  <PresentationFormat>Widescreen</PresentationFormat>
  <Paragraphs>278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Prediction &amp; Monitoring System — ML Internship Project</dc:title>
  <dc:subject>PptxGenJS Presentation</dc:subject>
  <dc:creator>ML Intern</dc:creator>
  <cp:lastModifiedBy>krupesh parmar</cp:lastModifiedBy>
  <cp:revision>5</cp:revision>
  <dcterms:created xsi:type="dcterms:W3CDTF">2026-05-26T04:50:41Z</dcterms:created>
  <dcterms:modified xsi:type="dcterms:W3CDTF">2026-05-30T04:48:11Z</dcterms:modified>
</cp:coreProperties>
</file>