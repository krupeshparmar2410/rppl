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4400" b="1">
                <a:solidFill>
                  <a:srgbClr val="06B6D4"/>
                </a:solidFill>
                <a:latin typeface="Arial"/>
              </a:rPr>
              <a:t>TRANSFORMER AI</a:t>
            </a:r>
          </a:p>
          <a:p>
            <a:pPr algn="ctr"/>
            <a:r>
              <a:rPr sz="4400" b="1">
                <a:solidFill>
                  <a:srgbClr val="06B6D4"/>
                </a:solidFill>
                <a:latin typeface="Arial"/>
              </a:rPr>
              <a:t>HEALTH MONITORING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AI-powered predictive maintenance and industrial monitoring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solidFill>
                  <a:srgbClr val="06B6D4"/>
                </a:solidFill>
                <a:latin typeface="Arial"/>
              </a:rPr>
              <a:t>The Challenge in Power Grids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Power transformers are critical infrastructure.</a:t>
            </a:r>
          </a:p>
          <a:p>
            <a:pPr lvl="1"/>
            <a:r>
              <a:rPr sz="2400">
                <a:solidFill>
                  <a:srgbClr val="FFFFFF"/>
                </a:solidFill>
              </a:rPr>
              <a:t>Unplanned Failures: Costly downtimes and severe damage.</a:t>
            </a:r>
          </a:p>
          <a:p>
            <a:pPr lvl="1"/>
            <a:r>
              <a:rPr sz="2400">
                <a:solidFill>
                  <a:srgbClr val="FFFFFF"/>
                </a:solidFill>
              </a:rPr>
              <a:t>Manual Inspections: Slow, dangerous, and often too late.</a:t>
            </a:r>
          </a:p>
          <a:p>
            <a:pPr lvl="1"/>
            <a:r>
              <a:rPr sz="2400">
                <a:solidFill>
                  <a:srgbClr val="FFFFFF"/>
                </a:solidFill>
              </a:rPr>
              <a:t>Complex Data: Human operators cannot analyze thousands of sensor parameters in real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solidFill>
                  <a:srgbClr val="06B6D4"/>
                </a:solidFill>
                <a:latin typeface="Arial"/>
              </a:rPr>
              <a:t>Our Smart Intelligence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An end-to-end Machine Learning pipeline:</a:t>
            </a:r>
          </a:p>
          <a:p>
            <a:pPr lvl="1"/>
            <a:r>
              <a:rPr sz="2400">
                <a:solidFill>
                  <a:srgbClr val="FFFFFF"/>
                </a:solidFill>
              </a:rPr>
              <a:t>Real-Time Telemetry: Processing Voltage, Current, OTI, and Power Factors instantly.</a:t>
            </a:r>
          </a:p>
          <a:p>
            <a:pPr lvl="1"/>
            <a:r>
              <a:rPr sz="2400">
                <a:solidFill>
                  <a:srgbClr val="FFFFFF"/>
                </a:solidFill>
              </a:rPr>
              <a:t>Predictive Inference: Classifying health into Normal, Warning, or Critical.</a:t>
            </a:r>
          </a:p>
          <a:p>
            <a:pPr lvl="1"/>
            <a:r>
              <a:rPr sz="2400">
                <a:solidFill>
                  <a:srgbClr val="FFFFFF"/>
                </a:solidFill>
              </a:rPr>
              <a:t>Anomaly Detection: Catching unusual patterns before major faults occur.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solidFill>
                  <a:srgbClr val="06B6D4"/>
                </a:solidFill>
                <a:latin typeface="Arial"/>
              </a:rPr>
              <a:t>Machine Learning Excellence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State-of-the-art predictive modeling:</a:t>
            </a:r>
          </a:p>
          <a:p>
            <a:pPr lvl="1"/>
            <a:r>
              <a:rPr sz="2400">
                <a:solidFill>
                  <a:srgbClr val="FFFFFF"/>
                </a:solidFill>
              </a:rPr>
              <a:t>Algorithm: Random Forest &amp; XGBoost Ensembles</a:t>
            </a:r>
          </a:p>
          <a:p>
            <a:pPr lvl="1"/>
            <a:r>
              <a:rPr sz="2400">
                <a:solidFill>
                  <a:srgbClr val="FFFFFF"/>
                </a:solidFill>
              </a:rPr>
              <a:t>Dataset: 19,000+ Industrial Sensor Readings</a:t>
            </a:r>
          </a:p>
          <a:p>
            <a:pPr lvl="1"/>
            <a:r>
              <a:rPr sz="2400">
                <a:solidFill>
                  <a:srgbClr val="FFFFFF"/>
                </a:solidFill>
              </a:rPr>
              <a:t>Feature Set: 32 engineered inputs (e.g., Thermal Stress, Load Level, THD)</a:t>
            </a:r>
          </a:p>
          <a:p>
            <a:pPr lvl="1"/>
            <a:r>
              <a:rPr sz="2400">
                <a:solidFill>
                  <a:srgbClr val="FFFFFF"/>
                </a:solidFill>
              </a:rPr>
              <a:t>Accuracy: 97.3% Prediction Confidence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solidFill>
                  <a:srgbClr val="06B6D4"/>
                </a:solidFill>
                <a:latin typeface="Arial"/>
              </a:rPr>
              <a:t>Live Monitoring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Sleek, intuitive, and modern Web Interface:</a:t>
            </a:r>
          </a:p>
          <a:p>
            <a:pPr lvl="1"/>
            <a:r>
              <a:rPr sz="2400">
                <a:solidFill>
                  <a:srgbClr val="FFFFFF"/>
                </a:solidFill>
              </a:rPr>
              <a:t>Dark Mode aesthetics with glassmorphism UI.</a:t>
            </a:r>
          </a:p>
          <a:p>
            <a:pPr lvl="1"/>
            <a:r>
              <a:rPr sz="2400">
                <a:solidFill>
                  <a:srgbClr val="FFFFFF"/>
                </a:solidFill>
              </a:rPr>
              <a:t>Live CSV Uploads: Instantly evaluates batch sensor data.</a:t>
            </a:r>
          </a:p>
          <a:p>
            <a:pPr lvl="1"/>
            <a:r>
              <a:rPr sz="2400">
                <a:solidFill>
                  <a:srgbClr val="FFFFFF"/>
                </a:solidFill>
              </a:rPr>
              <a:t>Visual Data: Real-time probability bars and metrics.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5000" b="1">
                <a:solidFill>
                  <a:srgbClr val="06B6D4"/>
                </a:solidFill>
                <a:latin typeface="Arial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800">
                <a:solidFill>
                  <a:srgbClr val="FFFFFF"/>
                </a:solidFill>
              </a:rPr>
              <a:t>Ready to deploy for next-generation power grids.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